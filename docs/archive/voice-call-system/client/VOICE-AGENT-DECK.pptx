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121408"/>
            <a:ext cx="822960" cy="444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B4FF"/>
                </a:solidFill>
                <a:latin typeface="Segoe UI"/>
              </a:rPr>
              <a:t>SMEMASTER · PROPOSITION COMMERCIALE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637215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1">
                <a:solidFill>
                  <a:srgbClr val="FFFFFF"/>
                </a:solidFill>
                <a:latin typeface="Segoe UI"/>
              </a:rPr>
              <a:t>Un assistant téléphonique</a:t>
            </a:r>
          </a:p>
          <a:p>
            <a:pPr algn="l">
              <a:lnSpc>
                <a:spcPct val="106000"/>
              </a:lnSpc>
            </a:pPr>
            <a:r>
              <a:rPr sz="4200" b="1">
                <a:solidFill>
                  <a:srgbClr val="FFFFFF"/>
                </a:solidFill>
                <a:latin typeface="Segoe UI"/>
              </a:rPr>
              <a:t>qui ne dort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24528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0">
                <a:solidFill>
                  <a:srgbClr val="B9C4D4"/>
                </a:solidFill>
                <a:latin typeface="Segoe UI"/>
              </a:rPr>
              <a:t>WhatsApp et appels entrants · Français et Anglais · pour votre entreprise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394960"/>
            <a:ext cx="10607040" cy="9525"/>
          </a:xfrm>
          <a:prstGeom prst="rect">
            <a:avLst/>
          </a:prstGeom>
          <a:solidFill>
            <a:srgbClr val="2C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68496"/>
                </a:solidFill>
                <a:latin typeface="Segoe UI"/>
              </a:rPr>
              <a:t>Document de cadrage · 28 septembre 2026 · aucune prestation n'est engagée à ce stade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Ce que vous perdez aujourd'hui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Trois pertes silencieuses, que l'on ne voit pas dans les chiffres.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3401568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92224"/>
            <a:ext cx="3401568" cy="3810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29968"/>
            <a:ext cx="29626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41F"/>
                </a:solidFill>
                <a:latin typeface="Segoe UI"/>
              </a:rPr>
              <a:t>Les appels manqués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414016"/>
            <a:ext cx="2962656" cy="12618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35E6E"/>
                </a:solidFill>
                <a:latin typeface="Segoe UI"/>
              </a:rPr>
              <a:t>Un client appelle, vous êtes occupé, il raccroche.
Il ne rappelle pas : il prend le concurrent qui, lui, a répondu.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1792224"/>
            <a:ext cx="3401568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92224"/>
            <a:ext cx="3401568" cy="3810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029968"/>
            <a:ext cx="29626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41F"/>
                </a:solidFill>
                <a:latin typeface="Segoe UI"/>
              </a:rPr>
              <a:t>Les questions répétitives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414016"/>
            <a:ext cx="2962656" cy="12618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35E6E"/>
                </a:solidFill>
                <a:latin typeface="Segoe UI"/>
              </a:rPr>
              <a:t>Vos horaires, vos tarifs, la disponibilité : les mêmes questions, à chaque appel.
Elles ne nécessitent aucun jugement humain.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1792224"/>
            <a:ext cx="3346704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1792224"/>
            <a:ext cx="3346704" cy="3810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29968"/>
            <a:ext cx="29077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41F"/>
                </a:solidFill>
                <a:latin typeface="Segoe UI"/>
              </a:rPr>
              <a:t>Le temps après-vente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14016"/>
            <a:ext cx="2907792" cy="12618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535E6E"/>
                </a:solidFill>
                <a:latin typeface="Segoe UI"/>
              </a:rPr>
              <a:t>Le temps du quadrillage, du transfert, de la prise de message : ce n'est pas du chiffre d'affaires.
C'est le coût invisible.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279392"/>
            <a:ext cx="10637215" cy="1042415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279392"/>
            <a:ext cx="44450" cy="1042415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4480560"/>
            <a:ext cx="99971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>
                <a:solidFill>
                  <a:srgbClr val="0E141F"/>
                </a:solidFill>
                <a:latin typeface="Segoe UI"/>
              </a:rPr>
              <a:t>Le point commun : </a:t>
            </a:r>
            <a:r>
              <a:rPr sz="1450" b="0">
                <a:solidFill>
                  <a:srgbClr val="535E6E"/>
                </a:solidFill>
                <a:latin typeface="Segoe UI"/>
              </a:rPr>
              <a:t>aucun de ces appels ne demande un humain. Ils demandent une réponse. C'est exactement ce qu'un assistant traite mieux et moins cher qu'une personne.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Ce que nous construisons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Deux canaux, un seul agent. L'agent répond, il ne remplace personne.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51937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55648"/>
            <a:ext cx="5193792" cy="38100"/>
          </a:xfrm>
          <a:prstGeom prst="rect">
            <a:avLst/>
          </a:prstGeom>
          <a:solidFill>
            <a:srgbClr val="0B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1993392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41F"/>
                </a:solidFill>
                <a:latin typeface="Segoe UI"/>
              </a:rPr>
              <a:t>Canal 1 — WhatsApp (écrit)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37744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>
                <a:solidFill>
                  <a:srgbClr val="535E6E"/>
                </a:solidFill>
                <a:latin typeface="Segoe UI"/>
              </a:rPr>
              <a:t>Le client écrit. L'agent répond dans la seconde.
Coût Meta : 0 € pour une conversation initiée par le client.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755648"/>
            <a:ext cx="51937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755648"/>
            <a:ext cx="5193792" cy="38100"/>
          </a:xfrm>
          <a:prstGeom prst="rect">
            <a:avLst/>
          </a:prstGeom>
          <a:solidFill>
            <a:srgbClr val="0B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993392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41F"/>
                </a:solidFill>
                <a:latin typeface="Segoe UI"/>
              </a:rPr>
              <a:t>Canal 2 — Ligne dédiée (vocal)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7744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>
                <a:solidFill>
                  <a:srgbClr val="535E6E"/>
                </a:solidFill>
                <a:latin typeface="Segoe UI"/>
              </a:rPr>
              <a:t>Le client appelle votre numéro. L'agent décroche et converse.
En français, en anglais, et il bascule si vous changez de langue.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43984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35E6E"/>
                </a:solidFill>
                <a:latin typeface="Segoe UI"/>
              </a:rPr>
              <a:t>CE QUE L'AGENT FAIT — ET NE FAIT PAS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73168"/>
            <a:ext cx="10637215" cy="36576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855464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IL FAIT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575" y="4855464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IL NE FAIT 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230368"/>
            <a:ext cx="5135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7A53"/>
                </a:solidFill>
                <a:latin typeface="Segoe UI"/>
              </a:rPr>
              <a:t>Répond, qualifie, informe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5575" y="5230368"/>
            <a:ext cx="5135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E141F"/>
                </a:solidFill>
                <a:latin typeface="Segoe UI"/>
              </a:rPr>
              <a:t>Écrit dans votre CRM ou votre agenda (v1)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522976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522976"/>
            <a:ext cx="10637215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614416"/>
            <a:ext cx="5135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7A53"/>
                </a:solidFill>
                <a:latin typeface="Segoe UI"/>
              </a:rPr>
              <a:t>Transfère à un humain, à la demande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575" y="5614416"/>
            <a:ext cx="5135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E141F"/>
                </a:solidFill>
                <a:latin typeface="Segoe UI"/>
              </a:rPr>
              <a:t>Remplace un humain sur une urgence médicale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907024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998464"/>
            <a:ext cx="5135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7A53"/>
                </a:solidFill>
                <a:latin typeface="Segoe UI"/>
              </a:rPr>
              <a:t>Prend un message après heures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5575" y="5998464"/>
            <a:ext cx="5135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E141F"/>
                </a:solidFill>
                <a:latin typeface="Segoe UI"/>
              </a:rPr>
              <a:t>Rappelle tout seul, à froid (v1)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6291072"/>
            <a:ext cx="10637215" cy="3840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6382512"/>
            <a:ext cx="5135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7A53"/>
                </a:solidFill>
                <a:latin typeface="Segoe UI"/>
              </a:rPr>
              <a:t>Détecte un message vocal et vous le résume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5575" y="6382512"/>
            <a:ext cx="5135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E141F"/>
                </a:solidFill>
                <a:latin typeface="Segoe UI"/>
              </a:rPr>
              <a:t>Enregistre l'audio des appels (v1)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6675120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À LIRE AVANT TOUT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Une limite de la plateforme, pas de notre technologie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Nous préférons vous le dire maintenant plutôt qu'en cours de projet.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10637215" cy="1371600"/>
          </a:xfrm>
          <a:prstGeom prst="rect">
            <a:avLst/>
          </a:prstGeom>
          <a:solidFill>
            <a:srgbClr val="FD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44450" cy="1371600"/>
          </a:xfrm>
          <a:prstGeom prst="rect">
            <a:avLst/>
          </a:prstGeom>
          <a:solidFill>
            <a:srgbClr val="B4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084832"/>
            <a:ext cx="99971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42626"/>
                </a:solidFill>
                <a:latin typeface="Segoe UI"/>
              </a:rPr>
              <a:t>WhatsApp ne permet pas à un logiciel de passer ou de recevoir des appels vocaux.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56032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35E6E"/>
                </a:solidFill>
                <a:latin typeface="Segoe UI"/>
              </a:rPr>
              <a:t>Aucune API, ni officielle ni non officielle, ne le permet. C'est une contrainte de WhatsApp.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02736"/>
            <a:ext cx="10637215" cy="36576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685032"/>
            <a:ext cx="343377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3621" y="3685032"/>
            <a:ext cx="332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3901" y="3685032"/>
            <a:ext cx="332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LIGNE DÉDIÉE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059936"/>
            <a:ext cx="343377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141F"/>
                </a:solidFill>
                <a:latin typeface="Segoe UI"/>
              </a:rPr>
              <a:t>L'agent répond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621" y="4059936"/>
            <a:ext cx="332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B7A53"/>
                </a:solidFill>
                <a:latin typeface="Segoe UI"/>
              </a:rPr>
              <a:t>Oui, par 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3901" y="4059936"/>
            <a:ext cx="332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B7A53"/>
                </a:solidFill>
                <a:latin typeface="Segoe UI"/>
              </a:rPr>
              <a:t>Oui, en direct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407408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407408"/>
            <a:ext cx="10637215" cy="43891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498848"/>
            <a:ext cx="343377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141F"/>
                </a:solidFill>
                <a:latin typeface="Segoe UI"/>
              </a:rPr>
              <a:t>Appels vocaux via 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3621" y="4498848"/>
            <a:ext cx="332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42626"/>
                </a:solidFill>
                <a:latin typeface="Segoe UI"/>
              </a:rPr>
              <a:t>Non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3901" y="4498848"/>
            <a:ext cx="332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35E6E"/>
                </a:solidFill>
                <a:latin typeface="Segoe UI"/>
              </a:rPr>
              <a:t>Sans objet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46320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937760"/>
            <a:ext cx="343377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141F"/>
                </a:solidFill>
                <a:latin typeface="Segoe UI"/>
              </a:rPr>
              <a:t>Ce qu'il vous faut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3621" y="4937760"/>
            <a:ext cx="332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E141F"/>
                </a:solidFill>
                <a:latin typeface="Segoe UI"/>
              </a:rPr>
              <a:t>Votre numéro 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3901" y="4937760"/>
            <a:ext cx="332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E141F"/>
                </a:solidFill>
                <a:latin typeface="Segoe UI"/>
              </a:rPr>
              <a:t>Un numéro dédié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85232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376672"/>
            <a:ext cx="10637215" cy="85953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" y="5559552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0E141F"/>
                </a:solidFill>
                <a:latin typeface="Segoe UI"/>
              </a:rPr>
              <a:t>À valider : </a:t>
            </a:r>
            <a:r>
              <a:rPr sz="1400" b="0">
                <a:solidFill>
                  <a:srgbClr val="535E6E"/>
                </a:solidFill>
                <a:latin typeface="Segoe UI"/>
              </a:rPr>
              <a:t>« L'agent répond sur WhatsApp (par messages) et sur une ligne dédiée (appels vocaux).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LE FONCTIONNEMENT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Ce qui se passe quand le téléphone sonne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De la sonnerie au transfert : les étapes que l'agent parcourt.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195681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956816" cy="3810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696" y="2103120"/>
            <a:ext cx="310896" cy="31089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14884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56032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141F"/>
                </a:solidFill>
                <a:latin typeface="Segoe UI"/>
              </a:rPr>
              <a:t>L'appel arrive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907792"/>
            <a:ext cx="1517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35E6E"/>
                </a:solidFill>
                <a:latin typeface="Segoe UI"/>
              </a:rPr>
              <a:t>L'agent décroche en moins de 2 secondes.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2615184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D9DFE7"/>
                </a:solidFill>
                <a:latin typeface="Segoe U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0088" y="1828800"/>
            <a:ext cx="195681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90088" y="1828800"/>
            <a:ext cx="1956816" cy="3810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9544" y="2103120"/>
            <a:ext cx="310896" cy="31089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214884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256032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141F"/>
                </a:solidFill>
                <a:latin typeface="Segoe UI"/>
              </a:rPr>
              <a:t>Il se présente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9544" y="2907792"/>
            <a:ext cx="1517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35E6E"/>
                </a:solidFill>
                <a:latin typeface="Segoe UI"/>
              </a:rPr>
              <a:t>« Cet appel est pris en charge par un assistant IA.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2615184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D9DFE7"/>
                </a:solidFill>
                <a:latin typeface="Segoe U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02936" y="1828800"/>
            <a:ext cx="195681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02936" y="1828800"/>
            <a:ext cx="1956816" cy="3810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22392" y="2103120"/>
            <a:ext cx="310896" cy="31089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22392" y="214884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2392" y="256032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141F"/>
                </a:solidFill>
                <a:latin typeface="Segoe UI"/>
              </a:rPr>
              <a:t>Il écoute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2907792"/>
            <a:ext cx="1517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35E6E"/>
                </a:solidFill>
                <a:latin typeface="Segoe UI"/>
              </a:rPr>
              <a:t>Il détecte la langue et la fige pour la durée de l'appel.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2615184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D9DFE7"/>
                </a:solidFill>
                <a:latin typeface="Segoe U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15784" y="1828800"/>
            <a:ext cx="195681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15784" y="1828800"/>
            <a:ext cx="1956816" cy="3810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2103120"/>
            <a:ext cx="310896" cy="31089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214884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56032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141F"/>
                </a:solidFill>
                <a:latin typeface="Segoe UI"/>
              </a:rPr>
              <a:t>Il répond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907792"/>
            <a:ext cx="1517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35E6E"/>
                </a:solidFill>
                <a:latin typeface="Segoe UI"/>
              </a:rPr>
              <a:t>Environ 1 seconde entre votre fin de parole et sa réponse.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615184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D9DFE7"/>
                </a:solidFill>
                <a:latin typeface="Segoe UI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28632" y="1828800"/>
            <a:ext cx="195681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8632" y="1828800"/>
            <a:ext cx="1956816" cy="3810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48088" y="2103120"/>
            <a:ext cx="310896" cy="31089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48088" y="214884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8" y="2560320"/>
            <a:ext cx="15179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E141F"/>
                </a:solidFill>
                <a:latin typeface="Segoe UI"/>
              </a:rPr>
              <a:t>Il vous passe l'humain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48088" y="2907792"/>
            <a:ext cx="15179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35E6E"/>
                </a:solidFill>
                <a:latin typeface="Segoe UI"/>
              </a:rPr>
              <a:t>Sur demande, en disant simplement « agent ».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059936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35E6E"/>
                </a:solidFill>
                <a:latin typeface="Segoe UI"/>
              </a:rPr>
              <a:t>ET SI VOUS NE POUVEZ PAS JOINDRE L'HUMAIN 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494276"/>
            <a:ext cx="82550" cy="825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4361688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B5CFF"/>
                </a:solidFill>
                <a:latin typeface="Segoe UI"/>
              </a:rPr>
              <a:t>▪  </a:t>
            </a:r>
            <a:r>
              <a:rPr sz="1350" b="1">
                <a:solidFill>
                  <a:srgbClr val="0E141F"/>
                </a:solidFill>
                <a:latin typeface="Segoe UI"/>
              </a:rPr>
              <a:t>Vous l'entendez.</a:t>
            </a:r>
            <a:r>
              <a:rPr sz="1350" b="0">
                <a:solidFill>
                  <a:srgbClr val="0E141F"/>
                </a:solidFill>
                <a:latin typeface="Segoe UI"/>
              </a:rPr>
              <a:t>  </a:t>
            </a:r>
            <a:r>
              <a:rPr sz="1350" b="0">
                <a:solidFill>
                  <a:srgbClr val="535E6E"/>
                </a:solidFill>
                <a:latin typeface="Segoe UI"/>
              </a:rPr>
              <a:t>L'agent le signale et vous le rappelle tout de suite.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4878324"/>
            <a:ext cx="82550" cy="825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4745736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B5CFF"/>
                </a:solidFill>
                <a:latin typeface="Segoe UI"/>
              </a:rPr>
              <a:t>▪  </a:t>
            </a:r>
            <a:r>
              <a:rPr sz="1350" b="1">
                <a:solidFill>
                  <a:srgbClr val="0E141F"/>
                </a:solidFill>
                <a:latin typeface="Segoe UI"/>
              </a:rPr>
              <a:t>Le message est transcrit.</a:t>
            </a:r>
            <a:r>
              <a:rPr sz="1350" b="0">
                <a:solidFill>
                  <a:srgbClr val="0E141F"/>
                </a:solidFill>
                <a:latin typeface="Segoe UI"/>
              </a:rPr>
              <a:t>  </a:t>
            </a:r>
            <a:r>
              <a:rPr sz="1350" b="0">
                <a:solidFill>
                  <a:srgbClr val="535E6E"/>
                </a:solidFill>
                <a:latin typeface="Segoe UI"/>
              </a:rPr>
              <a:t>Vous recevez un résumé écrit sur WhatsApp — gratuit.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262372"/>
            <a:ext cx="82550" cy="825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5129784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B5CFF"/>
                </a:solidFill>
                <a:latin typeface="Segoe UI"/>
              </a:rPr>
              <a:t>▪  </a:t>
            </a:r>
            <a:r>
              <a:rPr sz="1350" b="1">
                <a:solidFill>
                  <a:srgbClr val="0E141F"/>
                </a:solidFill>
                <a:latin typeface="Segoe UI"/>
              </a:rPr>
              <a:t>Vous récupérez l'information.</a:t>
            </a:r>
            <a:r>
              <a:rPr sz="1350" b="0">
                <a:solidFill>
                  <a:srgbClr val="0E141F"/>
                </a:solidFill>
                <a:latin typeface="Segoe UI"/>
              </a:rPr>
              <a:t>  </a:t>
            </a:r>
            <a:r>
              <a:rPr sz="1350" b="0">
                <a:solidFill>
                  <a:srgbClr val="535E6E"/>
                </a:solidFill>
                <a:latin typeface="Segoe UI"/>
              </a:rPr>
              <a:t>Le nom, l'objet, l'urgence, le meilleur moment pour rappeler.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LES LANGUES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Français et anglais, sans effort supplémentaire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Une seule base de connaissances, deux langues. Vous l'écrivez une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6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10512"/>
            <a:ext cx="5193792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5193792" cy="3810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48256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E141F"/>
                </a:solidFill>
                <a:latin typeface="Segoe UI"/>
              </a:rPr>
              <a:t>La langue est détectée, pas demandée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432304"/>
            <a:ext cx="475488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35E6E"/>
                </a:solidFill>
                <a:latin typeface="Segoe UI"/>
              </a:rPr>
              <a:t>L'agent identifie la langue dès la première phrase et la garde pour tout l'appel.
Si votre interlocuteur bascule en cours de conversation, l'agent suit — voix et formulation comprises.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810512"/>
            <a:ext cx="5193792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776" y="1810512"/>
            <a:ext cx="5193792" cy="38100"/>
          </a:xfrm>
          <a:prstGeom prst="rect">
            <a:avLst/>
          </a:prstGeom>
          <a:solidFill>
            <a:srgbClr val="0B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048256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E141F"/>
                </a:solidFill>
                <a:latin typeface="Segoe UI"/>
              </a:rPr>
              <a:t>Votre documentation en une seule langue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32304"/>
            <a:ext cx="475488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35E6E"/>
                </a:solidFill>
                <a:latin typeface="Segoe UI"/>
              </a:rPr>
              <a:t>Une question en français retrouve un document rédigé en anglais.
Vous n'écrivez pas deux versions de vos informations.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96512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35E6E"/>
                </a:solidFill>
                <a:latin typeface="Segoe UI"/>
              </a:rPr>
              <a:t>CE QUI N'EST PAS PRIS EN CHARGE EN V1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425696"/>
            <a:ext cx="10637215" cy="113385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08576"/>
            <a:ext cx="99971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L'arabe et le darija (marocain) ne sont pas inclus.</a:t>
            </a:r>
          </a:p>
          <a:p>
            <a:pPr algn="l">
              <a:lnSpc>
                <a:spcPct val="124000"/>
              </a:lnSpc>
            </a:pPr>
            <a:r>
              <a:rPr sz="1250" b="0">
                <a:solidFill>
                  <a:srgbClr val="535E6E"/>
                </a:solidFill>
                <a:latin typeface="Segoe UI"/>
              </a:rPr>
              <a:t>La reconnaissance vocale est peu fiable sur le darija, et une voix arabe standard s'entend immédiatement comme une voix d'ordinateur. Préférons vous le dire plutôt que de vous le livrer à la production. Si vous en avez besoin, c'est un projet séparé, avec ses propres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Ce que l'agent dit, et ce que nous conservons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La transparence est intégrée à la conversation, pas ajoutée après coup.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10512"/>
            <a:ext cx="10637215" cy="1298448"/>
          </a:xfrm>
          <a:prstGeom prst="rect">
            <a:avLst/>
          </a:prstGeom>
          <a:solidFill>
            <a:srgbClr val="EF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44450" cy="1298448"/>
          </a:xfrm>
          <a:prstGeom prst="rect">
            <a:avLst/>
          </a:prstGeom>
          <a:solidFill>
            <a:srgbClr val="0B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011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7A53"/>
                </a:solidFill>
                <a:latin typeface="Segoe UI"/>
              </a:rPr>
              <a:t>LA MENTION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322576"/>
            <a:ext cx="99971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0">
                <a:solidFill>
                  <a:srgbClr val="0E141F"/>
                </a:solidFill>
                <a:latin typeface="Segoe UI"/>
              </a:rPr>
              <a:t>« Cet appel est pris en charge par un assistant IA. Dites « agent » à tout moment pour être transféré à un humain.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93008"/>
            <a:ext cx="10637215" cy="36576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575304"/>
            <a:ext cx="27955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5388" y="3575304"/>
            <a:ext cx="343377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RECOMMANDÉ (V1)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2041" y="3575304"/>
            <a:ext cx="385926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SI VOUS INSISTEZ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50208"/>
            <a:ext cx="27955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Audio de l'appel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5388" y="3950208"/>
            <a:ext cx="34337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B7A53"/>
                </a:solidFill>
                <a:latin typeface="Segoe UI"/>
              </a:rPr>
              <a:t>Aucun enregistrement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2041" y="3950208"/>
            <a:ext cx="385926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Enregistrement, avec information et droit d'opposition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315968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315968"/>
            <a:ext cx="10637215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407408"/>
            <a:ext cx="27955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Ce qui est conservé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5388" y="4407408"/>
            <a:ext cx="34337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B7A53"/>
                </a:solidFill>
                <a:latin typeface="Segoe UI"/>
              </a:rPr>
              <a:t>La transcription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2041" y="4407408"/>
            <a:ext cx="385926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Audio + transcription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773168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864608"/>
            <a:ext cx="27955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Vérification de conformité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5388" y="4864608"/>
            <a:ext cx="34337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B7A53"/>
                </a:solidFill>
                <a:latin typeface="Segoe UI"/>
              </a:rPr>
              <a:t>RGPD classique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2041" y="4864608"/>
            <a:ext cx="385926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Régime CNIL de l'enregistrement d'appels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30368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230368"/>
            <a:ext cx="10637215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321808"/>
            <a:ext cx="27955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Infrastructure nécessaire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5388" y="5321808"/>
            <a:ext cx="343377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B7A53"/>
                </a:solidFill>
                <a:latin typeface="Segoe UI"/>
              </a:rPr>
              <a:t>Aucune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2041" y="5321808"/>
            <a:ext cx="385926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Chaîne de conservation audio + mise à jour des accords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687568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5724144"/>
            <a:ext cx="10637215" cy="822960"/>
          </a:xfrm>
          <a:prstGeom prst="rect">
            <a:avLst/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724144"/>
            <a:ext cx="44450" cy="82296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" y="5870448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À faire confirmer par votre conseil : </a:t>
            </a:r>
            <a:r>
              <a:rPr sz="1250" b="0">
                <a:solidFill>
                  <a:srgbClr val="535E6E"/>
                </a:solidFill>
                <a:latin typeface="Segoe UI"/>
              </a:rPr>
              <a:t>les obligations de l'AI Act (art. 50) et la loi française de 2025 sur l'IA dans les relations avec les consommateurs. Nous ne pouvons pas nous y substituer.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L'INVESTISSEMENT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Trois formules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Nos coûts comportent une part fixe importante : la formule C est notre recommandation.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10512"/>
            <a:ext cx="340156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3401568" cy="38100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02996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35E6E"/>
                </a:solidFill>
                <a:latin typeface="Segoe UI"/>
              </a:rPr>
              <a:t>FORMULE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2377440"/>
            <a:ext cx="2944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150 €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2944368"/>
            <a:ext cx="2944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535E6E"/>
                </a:solidFill>
                <a:latin typeface="Segoe UI"/>
              </a:rPr>
              <a:t>/mois + 0,25 €/min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" y="3547872"/>
            <a:ext cx="2926080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675888"/>
            <a:ext cx="2944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535E6E"/>
                </a:solidFill>
                <a:latin typeface="Segoe UI"/>
              </a:rPr>
              <a:t>Tout enrofé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8" y="1810512"/>
            <a:ext cx="340156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3128" y="1810512"/>
            <a:ext cx="3401568" cy="38100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202996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35E6E"/>
                </a:solidFill>
                <a:latin typeface="Segoe UI"/>
              </a:rPr>
              <a:t>FORMULE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377440"/>
            <a:ext cx="2944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350 €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944368"/>
            <a:ext cx="2944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535E6E"/>
                </a:solidFill>
                <a:latin typeface="Segoe UI"/>
              </a:rPr>
              <a:t>/mois, 400 min incluses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90872" y="3547872"/>
            <a:ext cx="2926080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675888"/>
            <a:ext cx="2944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535E6E"/>
                </a:solidFill>
                <a:latin typeface="Segoe UI"/>
              </a:rPr>
              <a:t>puis 0,20 €/min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1810512"/>
            <a:ext cx="3401568" cy="2395728"/>
          </a:xfrm>
          <a:prstGeom prst="rect">
            <a:avLst/>
          </a:prstGeom>
          <a:solidFill>
            <a:srgbClr val="F2F8FF"/>
          </a:solidFill>
          <a:ln w="20320">
            <a:solidFill>
              <a:srgbClr val="0B7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9016" y="1810512"/>
            <a:ext cx="3401568" cy="38100"/>
          </a:xfrm>
          <a:prstGeom prst="rect">
            <a:avLst/>
          </a:prstGeom>
          <a:solidFill>
            <a:srgbClr val="0B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02996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7A53"/>
                </a:solidFill>
                <a:latin typeface="Segoe UI"/>
              </a:rPr>
              <a:t>FORMULE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77440"/>
            <a:ext cx="2944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180 €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944368"/>
            <a:ext cx="2944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535E6E"/>
                </a:solidFill>
                <a:latin typeface="Segoe UI"/>
              </a:rPr>
              <a:t>/mois + 0,22 €/min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3547872"/>
            <a:ext cx="2926080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675888"/>
            <a:ext cx="29443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>
                <a:solidFill>
                  <a:srgbClr val="0B7A53"/>
                </a:solidFill>
                <a:latin typeface="Segoe UI"/>
              </a:rPr>
              <a:t>0,12 €/min la nuit et le week-end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24744" y="1993392"/>
            <a:ext cx="822960" cy="237744"/>
          </a:xfrm>
          <a:prstGeom prst="rect">
            <a:avLst/>
          </a:prstGeom>
          <a:solidFill>
            <a:srgbClr val="0B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24744" y="2043684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Segoe UI"/>
              </a:rPr>
              <a:t>RECOMMANDÉE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72000"/>
            <a:ext cx="10637215" cy="85953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4736592"/>
            <a:ext cx="999713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0E141F"/>
                </a:solidFill>
                <a:latin typeface="Segoe UI"/>
              </a:rPr>
              <a:t>Pourquoi la C : </a:t>
            </a:r>
            <a:r>
              <a:rPr sz="1300" b="0">
                <a:solidFill>
                  <a:srgbClr val="535E6E"/>
                </a:solidFill>
                <a:latin typeface="Segoe UI"/>
              </a:rPr>
              <a:t>la nuit et le week-end coûtent moins cher à servir. Vous pouvez vendre un standard de nuit à vos clients pour moins cher, sans perdre votre marge. La synthèse des messages vocaux reste active en permanence.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3270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35E6E"/>
                </a:solidFill>
                <a:latin typeface="Segoe UI"/>
              </a:rPr>
              <a:t>Ces tarifs sont donnés à titre indicatif. Les tarifs fournisseurs seront vérifiés et datés avant signature. Ils ne sont pas engagés à ce stade.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LE PILOTE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Deux semaines, et des chiffres decides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Nous ne demandons pas de foi. Nous fixons les critères avant de commencer.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1700784" cy="12252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92224"/>
            <a:ext cx="1700784" cy="3175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170078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E141F"/>
                </a:solidFill>
                <a:latin typeface="Segoe UI"/>
              </a:rPr>
              <a:t>2 semaines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de pilote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792224"/>
            <a:ext cx="1700784" cy="12252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792224"/>
            <a:ext cx="1700784" cy="3175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066544"/>
            <a:ext cx="170078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E141F"/>
                </a:solidFill>
                <a:latin typeface="Segoe UI"/>
              </a:rPr>
              <a:t>100+ appels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42032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réels, chez vous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792224"/>
            <a:ext cx="1700784" cy="12252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1792224"/>
            <a:ext cx="1700784" cy="317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066544"/>
            <a:ext cx="170078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B5CFF"/>
                </a:solidFill>
                <a:latin typeface="Segoe UI"/>
              </a:rPr>
              <a:t>&lt; 2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542032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pour décrocher (p95)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92224"/>
            <a:ext cx="1700784" cy="12252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792224"/>
            <a:ext cx="1700784" cy="317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66544"/>
            <a:ext cx="170078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B5CFF"/>
                </a:solidFill>
                <a:latin typeface="Segoe UI"/>
              </a:rPr>
              <a:t>&lt; 1,6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42032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silence perçu (p95)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1792224"/>
            <a:ext cx="1700784" cy="12252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1792224"/>
            <a:ext cx="1700784" cy="31750"/>
          </a:xfrm>
          <a:prstGeom prst="rect">
            <a:avLst/>
          </a:prstGeom>
          <a:solidFill>
            <a:srgbClr val="0B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066544"/>
            <a:ext cx="170078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7A53"/>
                </a:solidFill>
                <a:latin typeface="Segoe UI"/>
              </a:rPr>
              <a:t>≥ 60 %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42032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résolus sans humain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1792224"/>
            <a:ext cx="1700784" cy="12252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49840" y="1792224"/>
            <a:ext cx="1700784" cy="31750"/>
          </a:xfrm>
          <a:prstGeom prst="rect">
            <a:avLst/>
          </a:prstGeom>
          <a:solidFill>
            <a:srgbClr val="0B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2066544"/>
            <a:ext cx="1700784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7A53"/>
                </a:solidFill>
                <a:latin typeface="Segoe UI"/>
              </a:rPr>
              <a:t>100 %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542032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transferts réussis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401568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35E6E"/>
                </a:solidFill>
                <a:latin typeface="Segoe UI"/>
              </a:rPr>
              <a:t>CRITÈRES QUI NE SE NÉGOCIENT PAS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835908"/>
            <a:ext cx="82550" cy="825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370332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5CFF"/>
                </a:solidFill>
                <a:latin typeface="Segoe UI"/>
              </a:rPr>
              <a:t>▪  </a:t>
            </a:r>
            <a:r>
              <a:rPr sz="1300" b="1">
                <a:solidFill>
                  <a:srgbClr val="0E141F"/>
                </a:solidFill>
                <a:latin typeface="Segoe UI"/>
              </a:rPr>
              <a:t>La mention IA est prononcée sur 100 % des appels.</a:t>
            </a:r>
            <a:r>
              <a:rPr sz="1300" b="0">
                <a:solidFill>
                  <a:srgbClr val="0E141F"/>
                </a:solidFill>
                <a:latin typeface="Segoe UI"/>
              </a:rPr>
              <a:t>  </a:t>
            </a:r>
            <a:r>
              <a:rPr sz="1300" b="0">
                <a:solidFill>
                  <a:srgbClr val="535E6E"/>
                </a:solidFill>
                <a:latin typeface="Segoe UI"/>
              </a:rPr>
              <a:t>Un point de non-conformité suffit à arrêter le pilote.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256532"/>
            <a:ext cx="82550" cy="825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123944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5CFF"/>
                </a:solidFill>
                <a:latin typeface="Segoe UI"/>
              </a:rPr>
              <a:t>▪  </a:t>
            </a:r>
            <a:r>
              <a:rPr sz="1300" b="1">
                <a:solidFill>
                  <a:srgbClr val="0E141F"/>
                </a:solidFill>
                <a:latin typeface="Segoe UI"/>
              </a:rPr>
              <a:t>Un seul transfert échoué en silence est un échec.</a:t>
            </a:r>
            <a:r>
              <a:rPr sz="1300" b="0">
                <a:solidFill>
                  <a:srgbClr val="0E141F"/>
                </a:solidFill>
                <a:latin typeface="Segoe UI"/>
              </a:rPr>
              <a:t>  </a:t>
            </a:r>
            <a:r>
              <a:rPr sz="1300" b="0">
                <a:solidFill>
                  <a:srgbClr val="535E6E"/>
                </a:solidFill>
                <a:latin typeface="Segoe UI"/>
              </a:rPr>
              <a:t>Un client qui attend un humain qui ne viendra pas : pire qu'un mauvais robot.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718304"/>
            <a:ext cx="1063721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718304"/>
            <a:ext cx="44450" cy="100584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8136" y="4901184"/>
            <a:ext cx="9997135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0E141F"/>
                </a:solidFill>
                <a:latin typeface="Segoe UI"/>
              </a:rPr>
              <a:t>Une semaine de référence avant le pilote. </a:t>
            </a:r>
            <a:r>
              <a:rPr sz="1300" b="0">
                <a:solidFill>
                  <a:srgbClr val="535E6E"/>
                </a:solidFill>
                <a:latin typeface="Segoe UI"/>
              </a:rPr>
              <a:t>Sans mesure de votre situation actuelle, « 60 % de résolution » n'a rien contre quoi être comparé. Nous relevons d'abord : appels manqués, temps de traitement, taux de transfert actuel.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B5CFF"/>
                </a:solidFill>
                <a:latin typeface="Segoe UI"/>
              </a:rPr>
              <a:t>LE CALENDRIER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41F"/>
                </a:solidFill>
                <a:latin typeface="Segoe UI"/>
              </a:rPr>
              <a:t>Ce que nous faisons, dans quel ordre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566928" cy="3048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535E6E"/>
                </a:solidFill>
                <a:latin typeface="Segoe UI"/>
              </a:rPr>
              <a:t>Les délais qui dépendent de vous ou de Meta commencent en premier.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35E6E"/>
                </a:solidFill>
                <a:latin typeface="Segoe UI"/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10637215" cy="36576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74520"/>
            <a:ext cx="119995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9805" y="1874520"/>
            <a:ext cx="98721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9898" y="1874520"/>
            <a:ext cx="30082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QUOI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1062" y="1874520"/>
            <a:ext cx="47102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POURQUOI CET ORDRE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49424"/>
            <a:ext cx="1199957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Maintenant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9805" y="2249424"/>
            <a:ext cx="98721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Vous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9898" y="2249424"/>
            <a:ext cx="30082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Vos 4 réponses + vérification Meta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1062" y="2249424"/>
            <a:ext cx="471023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45A09"/>
                </a:solidFill>
                <a:latin typeface="Segoe UI"/>
              </a:rPr>
              <a:t>C'est le vrai délai — il ne dépend pas de nous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24912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24912"/>
            <a:ext cx="10637215" cy="566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816352"/>
            <a:ext cx="1199957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Semaine 1–2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9805" y="2816352"/>
            <a:ext cx="98721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Nous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9898" y="2816352"/>
            <a:ext cx="30082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Agent 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1062" y="2816352"/>
            <a:ext cx="471023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5CFF"/>
                </a:solidFill>
                <a:latin typeface="Segoe UI"/>
              </a:rPr>
              <a:t>Le canal le moins cher à lancer, Meta facture 0 €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291840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383280"/>
            <a:ext cx="1199957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Semaine 3–4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9805" y="3383280"/>
            <a:ext cx="98721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Nous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9898" y="3383280"/>
            <a:ext cx="30082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Ligne vocale dédiée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1062" y="3383280"/>
            <a:ext cx="471023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5CFF"/>
                </a:solidFill>
                <a:latin typeface="Segoe UI"/>
              </a:rPr>
              <a:t>Nécessite votre numéro et l'accord sur l'enregistrement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858768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858768"/>
            <a:ext cx="10637215" cy="566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3950208"/>
            <a:ext cx="1199957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Semaine 5–6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9805" y="3950208"/>
            <a:ext cx="98721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Nous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9898" y="3950208"/>
            <a:ext cx="30082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Supervision, alertes, tableaux de bord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1062" y="3950208"/>
            <a:ext cx="471023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5CFF"/>
                </a:solidFill>
                <a:latin typeface="Segoe UI"/>
              </a:rPr>
              <a:t>Une fois les appels réels en place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425696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517136"/>
            <a:ext cx="1199957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Semaine 7–8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9805" y="4517136"/>
            <a:ext cx="98721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Ensemble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9898" y="4517136"/>
            <a:ext cx="30082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41F"/>
                </a:solidFill>
                <a:latin typeface="Segoe UI"/>
              </a:rPr>
              <a:t>Pilote de 2 semaines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1062" y="4517136"/>
            <a:ext cx="471023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B7A53"/>
                </a:solidFill>
                <a:latin typeface="Segoe UI"/>
              </a:rPr>
              <a:t>≥ 100 appels, critères publiés à l'avance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992624"/>
            <a:ext cx="10637215" cy="9525"/>
          </a:xfrm>
          <a:prstGeom prst="rect">
            <a:avLst/>
          </a:prstGeom>
          <a:solidFill>
            <a:srgbClr val="D9D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5084064"/>
            <a:ext cx="10637215" cy="786384"/>
          </a:xfrm>
          <a:prstGeom prst="rect">
            <a:avLst/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084064"/>
            <a:ext cx="44450" cy="786384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" y="5230368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E141F"/>
                </a:solidFill>
                <a:latin typeface="Segoe UI"/>
              </a:rPr>
              <a:t>Le délai qui nous échappe : </a:t>
            </a:r>
            <a:r>
              <a:rPr sz="1250" b="0">
                <a:solidFill>
                  <a:srgbClr val="535E6E"/>
                </a:solidFill>
                <a:latin typeface="Segoe UI"/>
              </a:rPr>
              <a:t>la validation du compte Meta prend plusieurs semaines. C'est pourquoi nous la lançons dès aujourd'hui, en parallèle du reste.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859536"/>
            <a:ext cx="822960" cy="444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FB4FF"/>
                </a:solidFill>
                <a:latin typeface="Segoe UI"/>
              </a:rPr>
              <a:t>AVANT DE COMMENCER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Segoe UI"/>
              </a:rPr>
              <a:t>Quatre questions, et nous partons.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10637215" cy="841248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48256"/>
            <a:ext cx="44450" cy="841248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2860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8FB4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212848"/>
            <a:ext cx="94484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Quel appel vous coûte le plus de temps aujourd'hui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2542032"/>
            <a:ext cx="9448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E9CB0"/>
                </a:solidFill>
                <a:latin typeface="Segoe UI"/>
              </a:rPr>
              <a:t>Une seule réponse suffit. L'agent sera optimisé pour elle.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017520"/>
            <a:ext cx="10637215" cy="841248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017520"/>
            <a:ext cx="44450" cy="841248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25526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8FB4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3182112"/>
            <a:ext cx="94484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Le périmètre vous convient-il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3511296"/>
            <a:ext cx="9448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E9CB0"/>
                </a:solidFill>
                <a:latin typeface="Segoe UI"/>
              </a:rPr>
              <a:t>WhatsApp pour l'écrit, une ligne dédiée pour la voix.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86784"/>
            <a:ext cx="10637215" cy="841248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44450" cy="841248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2245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8FB4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4151376"/>
            <a:ext cx="94484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Quelle formule retenez-vous ? A, B ou C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4480560"/>
            <a:ext cx="9448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E9CB0"/>
                </a:solidFill>
                <a:latin typeface="Segoe UI"/>
              </a:rPr>
              <a:t>Nous recommandons la formule 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956048"/>
            <a:ext cx="10637215" cy="841248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956048"/>
            <a:ext cx="44450" cy="841248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519379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8FB4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5120640"/>
            <a:ext cx="944849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Confirmez-vous : aucun enregistrement audio en v1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8488" y="5449824"/>
            <a:ext cx="94484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E9CB0"/>
                </a:solidFill>
                <a:latin typeface="Segoe UI"/>
              </a:rPr>
              <a:t>Recommandé — cela évite le régime d'enregistrement d'appels.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C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30936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68496"/>
                </a:solidFill>
                <a:latin typeface="Segoe UI"/>
              </a:rPr>
              <a:t>Le cahier des charges technique complet et le détail des coûts sont disponibles sur demande — nous vous les envoyons avec ce document.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86000"/>
            <a:ext cx="822960" cy="44450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B4FF"/>
                </a:solidFill>
                <a:latin typeface="Segoe UI"/>
              </a:rPr>
              <a:t>SMEMASTER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33472"/>
            <a:ext cx="8595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Votre téléphone ne sonne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plus jamais dans le vide.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600" b="0">
                <a:solidFill>
                  <a:srgbClr val="B9C4D4"/>
                </a:solidFill>
                <a:latin typeface="Segoe UI"/>
              </a:rPr>
              <a:t>Réponse immédiate, français et anglais, 24h/24 et 7j/7 — avec un humain toujours à portée de voix.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394960"/>
            <a:ext cx="10607040" cy="9525"/>
          </a:xfrm>
          <a:prstGeom prst="rect">
            <a:avLst/>
          </a:prstGeom>
          <a:solidFill>
            <a:srgbClr val="2C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68496"/>
                </a:solidFill>
                <a:latin typeface="Segoe UI"/>
              </a:rPr>
              <a:t>Document de cadrage · 28 septembre 2026 · aucune prestation n'est engagée à ce stade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